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9BB4-F787-C769-D573-8F2AE770CF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399DFA0-C88A-0C84-CBF3-98764EDB8A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4A4154-9441-801C-4B50-F5EE0ABD0230}"/>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5" name="Footer Placeholder 4">
            <a:extLst>
              <a:ext uri="{FF2B5EF4-FFF2-40B4-BE49-F238E27FC236}">
                <a16:creationId xmlns:a16="http://schemas.microsoft.com/office/drawing/2014/main" id="{897FC145-D9E6-369E-E0BE-9A3620FB77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CC3C2E-FC16-F921-4F86-496FFFEFE397}"/>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828422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594B7-994A-FE54-546F-AF81AC799E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B0DB9CD-0106-801A-6F4F-7E1CFE3B3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C5E133-1FDA-20E6-0BCA-500AD2CDD878}"/>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5" name="Footer Placeholder 4">
            <a:extLst>
              <a:ext uri="{FF2B5EF4-FFF2-40B4-BE49-F238E27FC236}">
                <a16:creationId xmlns:a16="http://schemas.microsoft.com/office/drawing/2014/main" id="{2232612C-8E2B-68BE-D5B6-CE4D52AB8D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ECFDAC-C8AB-79F1-54FE-A45D0CFF7243}"/>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3390906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EEAF7-793A-9FDD-952A-BD773C8629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405D38-3C3A-0952-8FEB-63E79AC3F5C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607947-55C6-205A-A4A5-B20B081239BF}"/>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5" name="Footer Placeholder 4">
            <a:extLst>
              <a:ext uri="{FF2B5EF4-FFF2-40B4-BE49-F238E27FC236}">
                <a16:creationId xmlns:a16="http://schemas.microsoft.com/office/drawing/2014/main" id="{0C233B75-F4DA-FBAF-7458-EAD7908498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AFC349-B76C-F4E5-B9CD-F20155F85F59}"/>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31435761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307F-9355-EF02-0B05-0CEB92021E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4857CE-97D8-F7AC-8C13-EAB546C32F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CF2447B-4BDA-0E63-5202-7BF8E63D5A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0FF8BC1-0B44-47AA-C24B-DBEAA9089ECA}"/>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6" name="Footer Placeholder 5">
            <a:extLst>
              <a:ext uri="{FF2B5EF4-FFF2-40B4-BE49-F238E27FC236}">
                <a16:creationId xmlns:a16="http://schemas.microsoft.com/office/drawing/2014/main" id="{8532EE92-A14A-AB9B-0CBC-830DF43D88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B9ED8A-4BFD-30B7-BCE1-D5118D8A3E17}"/>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3388076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1066-92BF-06B7-BB0E-64ECBD16F8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A0866B-7DF5-550D-2BC7-C9788F3844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4F709B-9F75-9319-1330-13AF515284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11974-3B94-A43A-27D5-6C04403108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18F195-3085-53F2-3EC5-E4243E128B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017FA8-6CEF-F3A7-3952-BEF5D89FE448}"/>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8" name="Footer Placeholder 7">
            <a:extLst>
              <a:ext uri="{FF2B5EF4-FFF2-40B4-BE49-F238E27FC236}">
                <a16:creationId xmlns:a16="http://schemas.microsoft.com/office/drawing/2014/main" id="{110F24AB-820B-D34B-F40B-350CA92370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7D2474-F8F9-936C-29D4-B3358C96D145}"/>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3046548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0FDAB-10A7-BE1C-14C5-26E4C6CC67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4951AB9-CD8A-F9F7-7098-196F99A9F9D7}"/>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4" name="Footer Placeholder 3">
            <a:extLst>
              <a:ext uri="{FF2B5EF4-FFF2-40B4-BE49-F238E27FC236}">
                <a16:creationId xmlns:a16="http://schemas.microsoft.com/office/drawing/2014/main" id="{FB16C426-9D44-DC6C-45A7-B3214B4BF63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2D899A-54B9-313F-1203-B0AF82D4639A}"/>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1037914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1AA2B-4C05-13C0-A25B-2D66AE84F1B9}"/>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3" name="Footer Placeholder 2">
            <a:extLst>
              <a:ext uri="{FF2B5EF4-FFF2-40B4-BE49-F238E27FC236}">
                <a16:creationId xmlns:a16="http://schemas.microsoft.com/office/drawing/2014/main" id="{21DD236E-2384-1D00-CF47-8CD1FB6982A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4DB7CEF-DADC-862C-B4C3-7BBF16BCDE06}"/>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992466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0A33C-3310-05D7-9761-D8895BE872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4514834-589A-077A-7B8D-1B8AF160EB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516BAF-D4DA-FFAE-1099-06E4E8CBA0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644E0E-0236-80C0-CCE0-F22202F734E7}"/>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6" name="Footer Placeholder 5">
            <a:extLst>
              <a:ext uri="{FF2B5EF4-FFF2-40B4-BE49-F238E27FC236}">
                <a16:creationId xmlns:a16="http://schemas.microsoft.com/office/drawing/2014/main" id="{0BA8A83C-F1DC-569E-D383-0E05268F07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6F121E-C164-EC30-AB95-633FFF63815E}"/>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1792434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4E2E6-D198-A3CE-F684-26A824781F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7BB1D5-053C-1D83-9123-F59F101153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6A4ACC-AE79-E3BF-AFE2-18EFCBE4B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A865B9-975F-A873-353C-DD7D4A89D03F}"/>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6" name="Footer Placeholder 5">
            <a:extLst>
              <a:ext uri="{FF2B5EF4-FFF2-40B4-BE49-F238E27FC236}">
                <a16:creationId xmlns:a16="http://schemas.microsoft.com/office/drawing/2014/main" id="{8782B2AD-5B83-1412-7779-4FF72B209C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36588E-17E9-FA3B-E62E-84479623F69D}"/>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2443285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97D45-0C93-3127-388C-95EA7C5FCCE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64D646-024A-EE31-1A91-9C3D30D0BC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1D66255-432B-0FCF-0AC7-F0251A7E1820}"/>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5" name="Footer Placeholder 4">
            <a:extLst>
              <a:ext uri="{FF2B5EF4-FFF2-40B4-BE49-F238E27FC236}">
                <a16:creationId xmlns:a16="http://schemas.microsoft.com/office/drawing/2014/main" id="{36DF447C-8DBC-DE26-3EEF-37532A73CE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7A4062-D848-CE8C-45D8-FBF17C98731A}"/>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386576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02AF92-E870-4F3D-8657-CB8CE172C51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2D144D-4A9D-7CC0-6437-261441DED4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9CE0363-8F15-661C-0F94-133033782660}"/>
              </a:ext>
            </a:extLst>
          </p:cNvPr>
          <p:cNvSpPr>
            <a:spLocks noGrp="1"/>
          </p:cNvSpPr>
          <p:nvPr>
            <p:ph type="dt" sz="half" idx="10"/>
          </p:nvPr>
        </p:nvSpPr>
        <p:spPr/>
        <p:txBody>
          <a:bodyPr/>
          <a:lstStyle/>
          <a:p>
            <a:fld id="{7F3F9F6E-CC55-4123-B62C-BF9204031DFC}" type="datetimeFigureOut">
              <a:rPr lang="en-IN" smtClean="0"/>
              <a:t>23-01-2025</a:t>
            </a:fld>
            <a:endParaRPr lang="en-IN"/>
          </a:p>
        </p:txBody>
      </p:sp>
      <p:sp>
        <p:nvSpPr>
          <p:cNvPr id="5" name="Footer Placeholder 4">
            <a:extLst>
              <a:ext uri="{FF2B5EF4-FFF2-40B4-BE49-F238E27FC236}">
                <a16:creationId xmlns:a16="http://schemas.microsoft.com/office/drawing/2014/main" id="{E4921628-CCD1-FBEB-5C7E-5D95872E50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AD03A4-5879-1528-378F-805208E21FB0}"/>
              </a:ext>
            </a:extLst>
          </p:cNvPr>
          <p:cNvSpPr>
            <a:spLocks noGrp="1"/>
          </p:cNvSpPr>
          <p:nvPr>
            <p:ph type="sldNum" sz="quarter" idx="12"/>
          </p:nvPr>
        </p:nvSpPr>
        <p:spPr/>
        <p:txBody>
          <a:bodyPr/>
          <a:lstStyle/>
          <a:p>
            <a:fld id="{3BF73F4A-7D88-4765-B8B5-4A5FA83903AC}" type="slidenum">
              <a:rPr lang="en-IN" smtClean="0"/>
              <a:t>‹#›</a:t>
            </a:fld>
            <a:endParaRPr lang="en-IN"/>
          </a:p>
        </p:txBody>
      </p:sp>
    </p:spTree>
    <p:extLst>
      <p:ext uri="{BB962C8B-B14F-4D97-AF65-F5344CB8AC3E}">
        <p14:creationId xmlns:p14="http://schemas.microsoft.com/office/powerpoint/2010/main" val="40481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07043F-608F-1A66-6D1E-BD00DE7664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24CC8B-538D-17B4-D4F2-4D04C61BE5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7F6CC5-8922-27D1-F717-AB7903EABA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3F9F6E-CC55-4123-B62C-BF9204031DFC}" type="datetimeFigureOut">
              <a:rPr lang="en-IN" smtClean="0"/>
              <a:t>23-01-2025</a:t>
            </a:fld>
            <a:endParaRPr lang="en-IN"/>
          </a:p>
        </p:txBody>
      </p:sp>
      <p:sp>
        <p:nvSpPr>
          <p:cNvPr id="5" name="Footer Placeholder 4">
            <a:extLst>
              <a:ext uri="{FF2B5EF4-FFF2-40B4-BE49-F238E27FC236}">
                <a16:creationId xmlns:a16="http://schemas.microsoft.com/office/drawing/2014/main" id="{A59A43D9-8EAD-0111-12D7-929A1FB330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DBDBEE-D005-D474-3C8F-200F310915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F73F4A-7D88-4765-B8B5-4A5FA83903AC}" type="slidenum">
              <a:rPr lang="en-IN" smtClean="0"/>
              <a:t>‹#›</a:t>
            </a:fld>
            <a:endParaRPr lang="en-IN"/>
          </a:p>
        </p:txBody>
      </p:sp>
    </p:spTree>
    <p:extLst>
      <p:ext uri="{BB962C8B-B14F-4D97-AF65-F5344CB8AC3E}">
        <p14:creationId xmlns:p14="http://schemas.microsoft.com/office/powerpoint/2010/main" val="4256017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33AD-085A-9C9C-5D73-BC7DFD9D08E0}"/>
              </a:ext>
            </a:extLst>
          </p:cNvPr>
          <p:cNvSpPr>
            <a:spLocks noGrp="1"/>
          </p:cNvSpPr>
          <p:nvPr>
            <p:ph type="ctrTitle"/>
          </p:nvPr>
        </p:nvSpPr>
        <p:spPr/>
        <p:txBody>
          <a:bodyPr/>
          <a:lstStyle/>
          <a:p>
            <a:r>
              <a:rPr lang="en-IN" sz="1800" b="0" i="0" u="none" strike="noStrike" dirty="0">
                <a:solidFill>
                  <a:srgbClr val="000000"/>
                </a:solidFill>
                <a:effectLst/>
                <a:latin typeface="Arial" panose="020B0604020202020204" pitchFamily="34" charset="0"/>
              </a:rPr>
              <a:t>Nykaa Beauty Products Analysis</a:t>
            </a:r>
            <a:endParaRPr lang="en-IN" dirty="0"/>
          </a:p>
        </p:txBody>
      </p:sp>
      <p:sp>
        <p:nvSpPr>
          <p:cNvPr id="3" name="Subtitle 2">
            <a:extLst>
              <a:ext uri="{FF2B5EF4-FFF2-40B4-BE49-F238E27FC236}">
                <a16:creationId xmlns:a16="http://schemas.microsoft.com/office/drawing/2014/main" id="{E4F53DF0-5450-F18F-7495-2CD753E74AC7}"/>
              </a:ext>
            </a:extLst>
          </p:cNvPr>
          <p:cNvSpPr>
            <a:spLocks noGrp="1"/>
          </p:cNvSpPr>
          <p:nvPr>
            <p:ph type="subTitle" idx="1"/>
          </p:nvPr>
        </p:nvSpPr>
        <p:spPr/>
        <p:txBody>
          <a:bodyPr/>
          <a:lstStyle/>
          <a:p>
            <a:r>
              <a:rPr lang="en-IN" sz="1800" b="0" i="0" u="none" strike="noStrike" dirty="0">
                <a:solidFill>
                  <a:srgbClr val="595959"/>
                </a:solidFill>
                <a:effectLst/>
                <a:latin typeface="Arial" panose="020B0604020202020204" pitchFamily="34" charset="0"/>
              </a:rPr>
              <a:t>Beauty skin products</a:t>
            </a:r>
          </a:p>
          <a:p>
            <a:endParaRPr lang="en-IN" dirty="0"/>
          </a:p>
        </p:txBody>
      </p:sp>
    </p:spTree>
    <p:extLst>
      <p:ext uri="{BB962C8B-B14F-4D97-AF65-F5344CB8AC3E}">
        <p14:creationId xmlns:p14="http://schemas.microsoft.com/office/powerpoint/2010/main" val="2127157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8C873-EA1E-AD79-665D-5921C2EBCC79}"/>
              </a:ext>
            </a:extLst>
          </p:cNvPr>
          <p:cNvSpPr>
            <a:spLocks noGrp="1"/>
          </p:cNvSpPr>
          <p:nvPr>
            <p:ph type="title"/>
          </p:nvPr>
        </p:nvSpPr>
        <p:spPr/>
        <p:txBody>
          <a:bodyPr/>
          <a:lstStyle/>
          <a:p>
            <a:r>
              <a:rPr lang="en-IN" sz="1800" b="0" i="0" u="none" strike="noStrike" dirty="0">
                <a:solidFill>
                  <a:srgbClr val="000000"/>
                </a:solidFill>
                <a:effectLst/>
                <a:latin typeface="Times New Roman" panose="02020603050405020304" pitchFamily="18" charset="0"/>
                <a:cs typeface="Times New Roman" panose="02020603050405020304" pitchFamily="18" charset="0"/>
              </a:rPr>
              <a:t>About Me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D3A4723-4183-D983-FF0C-009BA58AA811}"/>
              </a:ext>
            </a:extLst>
          </p:cNvPr>
          <p:cNvSpPr>
            <a:spLocks noGrp="1"/>
          </p:cNvSpPr>
          <p:nvPr>
            <p:ph idx="1"/>
          </p:nvPr>
        </p:nvSpPr>
        <p:spPr/>
        <p:txBody>
          <a:bodyPr/>
          <a:lstStyle/>
          <a:p>
            <a:pPr rtl="0">
              <a:spcAft>
                <a:spcPts val="1200"/>
              </a:spcAft>
            </a:pPr>
            <a:r>
              <a:rPr lang="en-US" sz="1800" b="0" i="0" u="none" strike="noStrike" dirty="0">
                <a:solidFill>
                  <a:srgbClr val="595959"/>
                </a:solidFill>
                <a:effectLst/>
                <a:latin typeface="Times New Roman" panose="02020603050405020304" pitchFamily="18" charset="0"/>
                <a:cs typeface="Times New Roman" panose="02020603050405020304" pitchFamily="18" charset="0"/>
              </a:rPr>
              <a:t>I am from B.Sc. Maths,Statistics and Computers Background</a:t>
            </a:r>
            <a:endParaRPr lang="en-US" dirty="0">
              <a:effectLst/>
              <a:latin typeface="Times New Roman" panose="02020603050405020304" pitchFamily="18" charset="0"/>
              <a:cs typeface="Times New Roman" panose="02020603050405020304" pitchFamily="18" charset="0"/>
            </a:endParaRPr>
          </a:p>
          <a:p>
            <a:pPr rtl="0">
              <a:spcAft>
                <a:spcPts val="1200"/>
              </a:spcAft>
            </a:pPr>
            <a:r>
              <a:rPr lang="en-US" sz="1800" b="0" i="0" u="none" strike="noStrike" dirty="0">
                <a:solidFill>
                  <a:srgbClr val="595959"/>
                </a:solidFill>
                <a:effectLst/>
                <a:latin typeface="Times New Roman" panose="02020603050405020304" pitchFamily="18" charset="0"/>
                <a:cs typeface="Times New Roman" panose="02020603050405020304" pitchFamily="18" charset="0"/>
              </a:rPr>
              <a:t>I am Interested in visualizing  and interpretation of the data it is there in data science and also visualizing can clearly shows and understanding of the data.</a:t>
            </a:r>
            <a:endParaRPr lang="en-US" dirty="0">
              <a:effectLst/>
              <a:latin typeface="Times New Roman" panose="02020603050405020304" pitchFamily="18" charset="0"/>
              <a:cs typeface="Times New Roman" panose="02020603050405020304" pitchFamily="18" charset="0"/>
            </a:endParaRPr>
          </a:p>
          <a:p>
            <a:pPr rtl="0">
              <a:spcAft>
                <a:spcPts val="1200"/>
              </a:spcAft>
            </a:pPr>
            <a:r>
              <a:rPr lang="en-US" sz="1800" b="0" i="0" u="none" strike="noStrike" dirty="0">
                <a:solidFill>
                  <a:srgbClr val="595959"/>
                </a:solidFill>
                <a:effectLst/>
                <a:latin typeface="Times New Roman" panose="02020603050405020304" pitchFamily="18" charset="0"/>
                <a:cs typeface="Times New Roman" panose="02020603050405020304" pitchFamily="18" charset="0"/>
              </a:rPr>
              <a:t>I have Non-IT work experience of more than 6 years.</a:t>
            </a:r>
            <a:endParaRPr lang="en-US" dirty="0">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1345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40135-127D-B357-705C-FEF2F730C608}"/>
              </a:ext>
            </a:extLst>
          </p:cNvPr>
          <p:cNvSpPr>
            <a:spLocks noGrp="1"/>
          </p:cNvSpPr>
          <p:nvPr>
            <p:ph type="title"/>
          </p:nvPr>
        </p:nvSpPr>
        <p:spPr/>
        <p:txBody>
          <a:bodyPr/>
          <a:lstStyle/>
          <a:p>
            <a:r>
              <a:rPr lang="en-US" sz="1800" b="1" i="0" u="none" strike="noStrike" dirty="0">
                <a:solidFill>
                  <a:srgbClr val="000000"/>
                </a:solidFill>
                <a:effectLst/>
                <a:latin typeface="Times New Roman" panose="02020603050405020304" pitchFamily="18" charset="0"/>
                <a:cs typeface="Times New Roman" panose="02020603050405020304" pitchFamily="18" charset="0"/>
              </a:rPr>
              <a:t>Business Problem and Use case domain understanding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66ABD6-4D45-F53E-EAA3-9FCCB221DFC0}"/>
              </a:ext>
            </a:extLst>
          </p:cNvPr>
          <p:cNvSpPr>
            <a:spLocks noGrp="1"/>
          </p:cNvSpPr>
          <p:nvPr>
            <p:ph idx="1"/>
          </p:nvPr>
        </p:nvSpPr>
        <p:spPr/>
        <p:txBody>
          <a:bodyPr/>
          <a:lstStyle/>
          <a:p>
            <a:pPr marL="0" indent="0">
              <a:buNone/>
            </a:pPr>
            <a:r>
              <a:rPr lang="en-US" sz="1800" i="0" u="none" strike="noStrike" dirty="0">
                <a:solidFill>
                  <a:srgbClr val="000000"/>
                </a:solidFill>
                <a:effectLst/>
                <a:latin typeface="Times New Roman" panose="02020603050405020304" pitchFamily="18" charset="0"/>
                <a:cs typeface="Times New Roman" panose="02020603050405020304" pitchFamily="18" charset="0"/>
              </a:rPr>
              <a:t>The business problem is to analyzing the pricing, discounts, customer reviews, and shades of beauty products from Nykaa. The goal is to derive insights that can help optimize pricing strategies, identify popular product shades, and understand how discounts impact sales and reviews. </a:t>
            </a:r>
            <a:endParaRPr lang="en-US" dirty="0">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98789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C2A8-0F23-AF7F-7003-DF86BCCBBA75}"/>
              </a:ext>
            </a:extLst>
          </p:cNvPr>
          <p:cNvSpPr>
            <a:spLocks noGrp="1"/>
          </p:cNvSpPr>
          <p:nvPr>
            <p:ph type="title"/>
          </p:nvPr>
        </p:nvSpPr>
        <p:spPr>
          <a:xfrm>
            <a:off x="836141" y="368257"/>
            <a:ext cx="10515600" cy="1325563"/>
          </a:xfrm>
        </p:spPr>
        <p:txBody>
          <a:bodyPr/>
          <a:lstStyle/>
          <a:p>
            <a:r>
              <a:rPr lang="en-IN" sz="1800" b="1" i="0" u="none" strike="noStrike" dirty="0">
                <a:solidFill>
                  <a:srgbClr val="000000"/>
                </a:solidFill>
                <a:effectLst/>
                <a:latin typeface="Times New Roman" panose="02020603050405020304" pitchFamily="18" charset="0"/>
                <a:cs typeface="Times New Roman" panose="02020603050405020304" pitchFamily="18" charset="0"/>
              </a:rPr>
              <a:t>Objective of the Project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72023B8-F0F2-1EC9-622F-962217E5DA2D}"/>
              </a:ext>
            </a:extLst>
          </p:cNvPr>
          <p:cNvSpPr>
            <a:spLocks noGrp="1"/>
          </p:cNvSpPr>
          <p:nvPr>
            <p:ph idx="1"/>
          </p:nvPr>
        </p:nvSpPr>
        <p:spPr/>
        <p:txBody>
          <a:bodyPr/>
          <a:lstStyle/>
          <a:p>
            <a:pPr rtl="0">
              <a:spcAft>
                <a:spcPts val="1200"/>
              </a:spcAft>
            </a:pPr>
            <a:r>
              <a:rPr lang="en-US" sz="1800" b="0" i="0" u="none" strike="noStrike" dirty="0">
                <a:solidFill>
                  <a:srgbClr val="595959"/>
                </a:solidFill>
                <a:effectLst/>
                <a:latin typeface="Times New Roman" panose="02020603050405020304" pitchFamily="18" charset="0"/>
                <a:cs typeface="Times New Roman" panose="02020603050405020304" pitchFamily="18" charset="0"/>
              </a:rPr>
              <a:t>Understand the distribution of prices, discounts, and reviews.</a:t>
            </a:r>
            <a:endParaRPr lang="en-US" dirty="0">
              <a:effectLst/>
              <a:latin typeface="Times New Roman" panose="02020603050405020304" pitchFamily="18" charset="0"/>
              <a:cs typeface="Times New Roman" panose="02020603050405020304" pitchFamily="18" charset="0"/>
            </a:endParaRPr>
          </a:p>
          <a:p>
            <a:pPr rtl="0">
              <a:spcAft>
                <a:spcPts val="1200"/>
              </a:spcAft>
            </a:pPr>
            <a:r>
              <a:rPr lang="en-US" sz="1800" b="0" i="0" u="none" strike="noStrike" dirty="0">
                <a:solidFill>
                  <a:srgbClr val="595959"/>
                </a:solidFill>
                <a:effectLst/>
                <a:latin typeface="Times New Roman" panose="02020603050405020304" pitchFamily="18" charset="0"/>
                <a:cs typeface="Times New Roman" panose="02020603050405020304" pitchFamily="18" charset="0"/>
              </a:rPr>
              <a:t>Identify patterns and relationships between pricing, discount offers, and customer reviews.</a:t>
            </a:r>
            <a:endParaRPr lang="en-US" dirty="0">
              <a:effectLst/>
              <a:latin typeface="Times New Roman" panose="02020603050405020304" pitchFamily="18" charset="0"/>
              <a:cs typeface="Times New Roman" panose="02020603050405020304" pitchFamily="18" charset="0"/>
            </a:endParaRPr>
          </a:p>
          <a:p>
            <a:pPr rtl="0">
              <a:spcAft>
                <a:spcPts val="1200"/>
              </a:spcAft>
            </a:pPr>
            <a:r>
              <a:rPr lang="en-US" sz="1800" b="0" i="0" u="none" strike="noStrike" dirty="0">
                <a:solidFill>
                  <a:srgbClr val="595959"/>
                </a:solidFill>
                <a:effectLst/>
                <a:latin typeface="Times New Roman" panose="02020603050405020304" pitchFamily="18" charset="0"/>
                <a:cs typeface="Times New Roman" panose="02020603050405020304" pitchFamily="18" charset="0"/>
              </a:rPr>
              <a:t>Provide actionable insights to optimize product pricing and discount strategies, as well as highlight popular product attributes like shades.</a:t>
            </a:r>
            <a:endParaRPr lang="en-US" dirty="0">
              <a:effectLst/>
              <a:latin typeface="Times New Roman" panose="02020603050405020304" pitchFamily="18" charset="0"/>
              <a:cs typeface="Times New Roman" panose="02020603050405020304" pitchFamily="18" charset="0"/>
            </a:endParaRPr>
          </a:p>
          <a:p>
            <a:pPr marL="0" indent="0">
              <a:buNone/>
            </a:pPr>
            <a:br>
              <a:rPr lang="en-US" dirty="0"/>
            </a:br>
            <a:endParaRPr lang="en-IN" dirty="0"/>
          </a:p>
        </p:txBody>
      </p:sp>
    </p:spTree>
    <p:extLst>
      <p:ext uri="{BB962C8B-B14F-4D97-AF65-F5344CB8AC3E}">
        <p14:creationId xmlns:p14="http://schemas.microsoft.com/office/powerpoint/2010/main" val="3575547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16E52-5650-2B2E-255D-754C3F59A7DB}"/>
              </a:ext>
            </a:extLst>
          </p:cNvPr>
          <p:cNvSpPr>
            <a:spLocks noGrp="1"/>
          </p:cNvSpPr>
          <p:nvPr>
            <p:ph type="title"/>
          </p:nvPr>
        </p:nvSpPr>
        <p:spPr/>
        <p:txBody>
          <a:bodyPr/>
          <a:lstStyle/>
          <a:p>
            <a:r>
              <a:rPr lang="en-US" sz="1800" b="1" i="0" u="none" strike="noStrike" dirty="0">
                <a:solidFill>
                  <a:srgbClr val="000000"/>
                </a:solidFill>
                <a:effectLst/>
                <a:latin typeface="Times New Roman" panose="02020603050405020304" pitchFamily="18" charset="0"/>
                <a:cs typeface="Times New Roman" panose="02020603050405020304" pitchFamily="18" charset="0"/>
              </a:rPr>
              <a:t>Web Scraping – Details (Websites, Processor you followed)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EB266C5-2158-494A-FB03-47E2C6858BC6}"/>
              </a:ext>
            </a:extLst>
          </p:cNvPr>
          <p:cNvSpPr>
            <a:spLocks noGrp="1"/>
          </p:cNvSpPr>
          <p:nvPr>
            <p:ph idx="1"/>
          </p:nvPr>
        </p:nvSpPr>
        <p:spPr/>
        <p:txBody>
          <a:bodyPr/>
          <a:lstStyle/>
          <a:p>
            <a:pPr marL="0" indent="0" rtl="0">
              <a:spcAft>
                <a:spcPts val="1200"/>
              </a:spcAft>
              <a:buNone/>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Website</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Nykaa</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website, which features a variety of beauty products.</a:t>
            </a:r>
            <a:endParaRPr lang="en-US" dirty="0">
              <a:effectLst/>
              <a:latin typeface="Times New Roman" panose="02020603050405020304" pitchFamily="18" charset="0"/>
              <a:cs typeface="Times New Roman" panose="02020603050405020304" pitchFamily="18" charset="0"/>
            </a:endParaRPr>
          </a:p>
          <a:p>
            <a:pPr marL="0" indent="0" rtl="0">
              <a:spcAft>
                <a:spcPts val="1200"/>
              </a:spcAft>
              <a:buNone/>
            </a:pPr>
            <a:r>
              <a:rPr lang="en-US" sz="1800" b="1" i="0" u="none" strike="noStrike" dirty="0">
                <a:solidFill>
                  <a:srgbClr val="000000"/>
                </a:solidFill>
                <a:effectLst/>
                <a:latin typeface="Times New Roman" panose="02020603050405020304" pitchFamily="18" charset="0"/>
                <a:cs typeface="Times New Roman" panose="02020603050405020304" pitchFamily="18" charset="0"/>
              </a:rPr>
              <a:t>Process</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a:t>
            </a:r>
            <a:endParaRPr lang="en-US" dirty="0">
              <a:effectLst/>
              <a:latin typeface="Times New Roman" panose="02020603050405020304" pitchFamily="18" charset="0"/>
              <a:cs typeface="Times New Roman" panose="02020603050405020304" pitchFamily="18" charset="0"/>
            </a:endParaRPr>
          </a:p>
          <a:p>
            <a:pPr marL="457200" rtl="0">
              <a:spcBef>
                <a:spcPts val="1200"/>
              </a:spcBef>
              <a:spcAft>
                <a:spcPts val="120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Used Python libraries like Beautifulsoup and requests to extract product details (Original Price, Offer Price, Discount, Reviews, and Shades).</a:t>
            </a:r>
            <a:endParaRPr lang="en-US" dirty="0">
              <a:effectLst/>
              <a:latin typeface="Times New Roman" panose="02020603050405020304" pitchFamily="18" charset="0"/>
              <a:cs typeface="Times New Roman" panose="02020603050405020304" pitchFamily="18" charset="0"/>
            </a:endParaRPr>
          </a:p>
          <a:p>
            <a:pPr marL="457200" rtl="0">
              <a:spcBef>
                <a:spcPts val="1200"/>
              </a:spcBef>
              <a:spcAft>
                <a:spcPts val="120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The HTML structure was analyzed to identify the relevant tags containing the desired data fields.</a:t>
            </a:r>
            <a:endParaRPr lang="en-US" dirty="0">
              <a:effectLst/>
              <a:latin typeface="Times New Roman" panose="02020603050405020304" pitchFamily="18" charset="0"/>
              <a:cs typeface="Times New Roman" panose="02020603050405020304" pitchFamily="18" charset="0"/>
            </a:endParaRPr>
          </a:p>
          <a:p>
            <a:pPr marL="457200" rtl="0">
              <a:spcBef>
                <a:spcPts val="1200"/>
              </a:spcBef>
              <a:spcAft>
                <a:spcPts val="1200"/>
              </a:spcAft>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Data was then cleaned and structured into a pandas DataFrame for further analysis.</a:t>
            </a:r>
            <a:endParaRPr lang="en-US" dirty="0">
              <a:effectLst/>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175586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93B5-33EE-A6AC-7545-27DF0DA24C5C}"/>
              </a:ext>
            </a:extLst>
          </p:cNvPr>
          <p:cNvSpPr>
            <a:spLocks noGrp="1"/>
          </p:cNvSpPr>
          <p:nvPr>
            <p:ph type="title"/>
          </p:nvPr>
        </p:nvSpPr>
        <p:spPr/>
        <p:txBody>
          <a:bodyPr/>
          <a:lstStyle/>
          <a:p>
            <a:r>
              <a:rPr lang="en-IN" sz="1800" b="1" i="0" u="none" strike="noStrike" dirty="0">
                <a:solidFill>
                  <a:srgbClr val="000000"/>
                </a:solidFill>
                <a:effectLst/>
                <a:latin typeface="Times New Roman" panose="02020603050405020304" pitchFamily="18" charset="0"/>
                <a:cs typeface="Times New Roman" panose="02020603050405020304" pitchFamily="18" charset="0"/>
              </a:rPr>
              <a:t>Summary of the Data</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0BEE7C4-4CE0-12AB-F133-9D28B4338F8D}"/>
              </a:ext>
            </a:extLst>
          </p:cNvPr>
          <p:cNvSpPr>
            <a:spLocks noGrp="1"/>
          </p:cNvSpPr>
          <p:nvPr>
            <p:ph idx="1"/>
          </p:nvPr>
        </p:nvSpPr>
        <p:spPr/>
        <p:txBody>
          <a:bodyPr/>
          <a:lstStyle/>
          <a:p>
            <a:pPr marL="0" indent="0">
              <a:buNone/>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The dataset contains key attributes for beauty products, including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Brand</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Product name</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Original Price</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Offer Price</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Discount</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Reviews, offer </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and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Shades</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The data provides valuable insights into how pricing strategies and product variations affect customer engagement and sales.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3106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E4924-C667-0502-F9E9-EF40FE77BCD8}"/>
              </a:ext>
            </a:extLst>
          </p:cNvPr>
          <p:cNvSpPr>
            <a:spLocks noGrp="1"/>
          </p:cNvSpPr>
          <p:nvPr>
            <p:ph type="title"/>
          </p:nvPr>
        </p:nvSpPr>
        <p:spPr/>
        <p:txBody>
          <a:bodyPr/>
          <a:lstStyle/>
          <a:p>
            <a:r>
              <a:rPr lang="en-IN" sz="1800" b="1" i="0" dirty="0">
                <a:effectLst/>
                <a:latin typeface="Times New Roman" panose="02020603050405020304" pitchFamily="18" charset="0"/>
                <a:cs typeface="Times New Roman" panose="02020603050405020304" pitchFamily="18" charset="0"/>
              </a:rPr>
              <a:t>Exploratory Data Analysis: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CC89B3-FA50-9DA6-D8CF-6617E76E3202}"/>
              </a:ext>
            </a:extLst>
          </p:cNvPr>
          <p:cNvSpPr>
            <a:spLocks noGrp="1"/>
          </p:cNvSpPr>
          <p:nvPr>
            <p:ph idx="1"/>
          </p:nvPr>
        </p:nvSpPr>
        <p:spPr/>
        <p:txBody>
          <a:bodyPr/>
          <a:lstStyle/>
          <a:p>
            <a:pPr marL="0" indent="0">
              <a:buNone/>
            </a:pPr>
            <a:r>
              <a:rPr lang="en-IN" sz="1800" b="1" i="1" u="none" strike="noStrike" dirty="0">
                <a:solidFill>
                  <a:srgbClr val="000000"/>
                </a:solidFill>
                <a:effectLst/>
                <a:latin typeface="Times New Roman" panose="02020603050405020304" pitchFamily="18" charset="0"/>
                <a:cs typeface="Times New Roman" panose="02020603050405020304" pitchFamily="18" charset="0"/>
              </a:rPr>
              <a:t>Data Cleaning Steps</a:t>
            </a:r>
          </a:p>
          <a:p>
            <a:pPr marL="0" indent="0">
              <a:buNone/>
            </a:pPr>
            <a:r>
              <a:rPr lang="en-US" sz="1600" b="1" dirty="0">
                <a:latin typeface="Times New Roman" panose="02020603050405020304" pitchFamily="18" charset="0"/>
                <a:cs typeface="Times New Roman" panose="02020603050405020304" pitchFamily="18" charset="0"/>
              </a:rPr>
              <a:t>Handling Missing Values</a:t>
            </a:r>
            <a:r>
              <a:rPr lang="en-US" sz="1600" dirty="0">
                <a:latin typeface="Times New Roman" panose="02020603050405020304" pitchFamily="18" charset="0"/>
                <a:cs typeface="Times New Roman" panose="02020603050405020304" pitchFamily="18" charset="0"/>
              </a:rPr>
              <a:t>: Checked for any missing values in columns and decided whether to fill or remove them.</a:t>
            </a:r>
          </a:p>
          <a:p>
            <a:pPr marL="0" indent="0">
              <a:buNone/>
            </a:pPr>
            <a:r>
              <a:rPr lang="en-US" sz="1600" b="1" dirty="0">
                <a:latin typeface="Times New Roman" panose="02020603050405020304" pitchFamily="18" charset="0"/>
                <a:cs typeface="Times New Roman" panose="02020603050405020304" pitchFamily="18" charset="0"/>
              </a:rPr>
              <a:t>Data Type Correction</a:t>
            </a:r>
            <a:r>
              <a:rPr lang="en-US" sz="1600" dirty="0">
                <a:latin typeface="Times New Roman" panose="02020603050405020304" pitchFamily="18" charset="0"/>
                <a:cs typeface="Times New Roman" panose="02020603050405020304" pitchFamily="18" charset="0"/>
              </a:rPr>
              <a:t>: Ensured that columns such as prices and reviews were in the correct numerical format, while categorical variables like shades were handled as string types.</a:t>
            </a:r>
          </a:p>
          <a:p>
            <a:pPr marL="0" indent="0">
              <a:buNone/>
            </a:pPr>
            <a:endParaRPr lang="en-IN" sz="1600" dirty="0"/>
          </a:p>
        </p:txBody>
      </p:sp>
    </p:spTree>
    <p:extLst>
      <p:ext uri="{BB962C8B-B14F-4D97-AF65-F5344CB8AC3E}">
        <p14:creationId xmlns:p14="http://schemas.microsoft.com/office/powerpoint/2010/main" val="86700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45F25-4F87-EAF6-D132-182BD9858AAA}"/>
              </a:ext>
            </a:extLst>
          </p:cNvPr>
          <p:cNvSpPr>
            <a:spLocks noGrp="1"/>
          </p:cNvSpPr>
          <p:nvPr>
            <p:ph type="title"/>
          </p:nvPr>
        </p:nvSpPr>
        <p:spPr/>
        <p:txBody>
          <a:bodyPr>
            <a:normAutofit/>
          </a:bodyPr>
          <a:lstStyle/>
          <a:p>
            <a:r>
              <a:rPr lang="en-IN" sz="1800" b="1" dirty="0">
                <a:latin typeface="Times New Roman" panose="02020603050405020304" pitchFamily="18" charset="0"/>
                <a:cs typeface="Times New Roman" panose="02020603050405020304" pitchFamily="18" charset="0"/>
              </a:rPr>
              <a:t>Data Manipulation Steps</a:t>
            </a:r>
            <a:r>
              <a:rPr lang="en-IN" sz="1800"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2F4D5CA4-1F25-355D-9E8E-3577B9218614}"/>
              </a:ext>
            </a:extLst>
          </p:cNvPr>
          <p:cNvSpPr>
            <a:spLocks noGrp="1"/>
          </p:cNvSpPr>
          <p:nvPr>
            <p:ph idx="1"/>
          </p:nvPr>
        </p:nvSpPr>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Feature Creation</a:t>
            </a:r>
            <a:r>
              <a:rPr lang="en-US" sz="1600" dirty="0">
                <a:latin typeface="Times New Roman" panose="02020603050405020304" pitchFamily="18" charset="0"/>
                <a:cs typeface="Times New Roman" panose="02020603050405020304" pitchFamily="18" charset="0"/>
              </a:rPr>
              <a:t>: Created new features such as discount percentage from the existing columns (Original Price and Offer Price) to facilitate deeper analysis.</a:t>
            </a:r>
          </a:p>
          <a:p>
            <a:pPr marL="0" indent="0">
              <a:buNone/>
            </a:pPr>
            <a:r>
              <a:rPr lang="en-US" sz="1600" b="1" dirty="0">
                <a:latin typeface="Times New Roman" panose="02020603050405020304" pitchFamily="18" charset="0"/>
                <a:cs typeface="Times New Roman" panose="02020603050405020304" pitchFamily="18" charset="0"/>
              </a:rPr>
              <a:t>Grouping and Aggregating</a:t>
            </a:r>
            <a:r>
              <a:rPr lang="en-US" sz="1600" dirty="0">
                <a:latin typeface="Times New Roman" panose="02020603050405020304" pitchFamily="18" charset="0"/>
                <a:cs typeface="Times New Roman" panose="02020603050405020304" pitchFamily="18" charset="0"/>
              </a:rPr>
              <a:t>: Grouped data based on product shades to explore how different shades impact product prices and reviews.</a:t>
            </a:r>
          </a:p>
          <a:p>
            <a:pPr marL="0" indent="0">
              <a:buNone/>
            </a:pPr>
            <a:endParaRPr lang="en-IN" sz="1600" dirty="0"/>
          </a:p>
        </p:txBody>
      </p:sp>
    </p:spTree>
    <p:extLst>
      <p:ext uri="{BB962C8B-B14F-4D97-AF65-F5344CB8AC3E}">
        <p14:creationId xmlns:p14="http://schemas.microsoft.com/office/powerpoint/2010/main" val="2256999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673B4-C31C-9270-7431-F0155CB43BC2}"/>
              </a:ext>
            </a:extLst>
          </p:cNvPr>
          <p:cNvSpPr>
            <a:spLocks noGrp="1"/>
          </p:cNvSpPr>
          <p:nvPr>
            <p:ph type="title"/>
          </p:nvPr>
        </p:nvSpPr>
        <p:spPr/>
        <p:txBody>
          <a:bodyPr>
            <a:normAutofit/>
          </a:bodyPr>
          <a:lstStyle/>
          <a:p>
            <a:r>
              <a:rPr lang="en-IN" sz="2000" b="1" dirty="0">
                <a:latin typeface="Times New Roman" panose="02020603050405020304" pitchFamily="18" charset="0"/>
                <a:cs typeface="Times New Roman" panose="02020603050405020304" pitchFamily="18" charset="0"/>
              </a:rPr>
              <a:t>Univariate Analysis Steps</a:t>
            </a:r>
            <a:r>
              <a:rPr lang="en-IN" sz="2000"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09AD5244-8904-31F3-1271-06460D503A6D}"/>
              </a:ext>
            </a:extLst>
          </p:cNvPr>
          <p:cNvSpPr>
            <a:spLocks noGrp="1"/>
          </p:cNvSpPr>
          <p:nvPr>
            <p:ph idx="1"/>
          </p:nvPr>
        </p:nvSpPr>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Statistical Summary</a:t>
            </a:r>
            <a:r>
              <a:rPr lang="en-US" sz="1600" dirty="0">
                <a:latin typeface="Times New Roman" panose="02020603050405020304" pitchFamily="18" charset="0"/>
                <a:cs typeface="Times New Roman" panose="02020603050405020304" pitchFamily="18" charset="0"/>
              </a:rPr>
              <a:t>: Calculated basic statistical metrics (mean, median, standard deviation) for continuous variables such as Original Price, Offer Price, and Reviews.</a:t>
            </a:r>
          </a:p>
          <a:p>
            <a:pPr marL="0" indent="0">
              <a:buNone/>
            </a:pPr>
            <a:r>
              <a:rPr lang="en-US" sz="1600" b="1" dirty="0">
                <a:latin typeface="Times New Roman" panose="02020603050405020304" pitchFamily="18" charset="0"/>
                <a:cs typeface="Times New Roman" panose="02020603050405020304" pitchFamily="18" charset="0"/>
              </a:rPr>
              <a:t>Visualizations</a:t>
            </a:r>
            <a:r>
              <a:rPr lang="en-US" sz="1600" dirty="0">
                <a:latin typeface="Times New Roman" panose="02020603050405020304" pitchFamily="18" charset="0"/>
                <a:cs typeface="Times New Roman" panose="02020603050405020304" pitchFamily="18" charset="0"/>
              </a:rPr>
              <a:t>: Plotted histograms, boxplots, and bar charts to visualize the distribution of individual variables and detect patterns like skewness, outliers, and popular categories.</a:t>
            </a:r>
            <a:endParaRPr lang="en-IN" sz="16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9A74BDC-A1CA-B4DA-28A3-2D3AF3CBAD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807" y="3105665"/>
            <a:ext cx="3304814" cy="2383537"/>
          </a:xfrm>
          <a:prstGeom prst="rect">
            <a:avLst/>
          </a:prstGeom>
        </p:spPr>
      </p:pic>
      <p:pic>
        <p:nvPicPr>
          <p:cNvPr id="8" name="Picture 7">
            <a:extLst>
              <a:ext uri="{FF2B5EF4-FFF2-40B4-BE49-F238E27FC236}">
                <a16:creationId xmlns:a16="http://schemas.microsoft.com/office/drawing/2014/main" id="{B336B8BD-10A1-3722-FC81-ED0175804E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90000" y="3218353"/>
            <a:ext cx="1724221" cy="2031828"/>
          </a:xfrm>
          <a:prstGeom prst="rect">
            <a:avLst/>
          </a:prstGeom>
        </p:spPr>
      </p:pic>
      <p:pic>
        <p:nvPicPr>
          <p:cNvPr id="9" name="Picture 8">
            <a:extLst>
              <a:ext uri="{FF2B5EF4-FFF2-40B4-BE49-F238E27FC236}">
                <a16:creationId xmlns:a16="http://schemas.microsoft.com/office/drawing/2014/main" id="{C8417458-735F-F111-36BC-2F86E7C580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69844" y="3018520"/>
            <a:ext cx="2615873" cy="2470682"/>
          </a:xfrm>
          <a:prstGeom prst="rect">
            <a:avLst/>
          </a:prstGeom>
        </p:spPr>
      </p:pic>
      <p:pic>
        <p:nvPicPr>
          <p:cNvPr id="10" name="Picture 9">
            <a:extLst>
              <a:ext uri="{FF2B5EF4-FFF2-40B4-BE49-F238E27FC236}">
                <a16:creationId xmlns:a16="http://schemas.microsoft.com/office/drawing/2014/main" id="{628C7704-4302-883A-2A53-ECA8AEC064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60947" y="3018520"/>
            <a:ext cx="1857993" cy="2263865"/>
          </a:xfrm>
          <a:prstGeom prst="rect">
            <a:avLst/>
          </a:prstGeom>
        </p:spPr>
      </p:pic>
    </p:spTree>
    <p:extLst>
      <p:ext uri="{BB962C8B-B14F-4D97-AF65-F5344CB8AC3E}">
        <p14:creationId xmlns:p14="http://schemas.microsoft.com/office/powerpoint/2010/main" val="3742921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B507DF-598E-D218-C78C-630594762E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13" y="3793492"/>
            <a:ext cx="2778032" cy="2628603"/>
          </a:xfrm>
          <a:prstGeom prst="rect">
            <a:avLst/>
          </a:prstGeom>
        </p:spPr>
      </p:pic>
      <p:pic>
        <p:nvPicPr>
          <p:cNvPr id="9" name="Picture 8">
            <a:extLst>
              <a:ext uri="{FF2B5EF4-FFF2-40B4-BE49-F238E27FC236}">
                <a16:creationId xmlns:a16="http://schemas.microsoft.com/office/drawing/2014/main" id="{27017AB4-AD0F-38F5-5AD1-0C44488BB5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1405" y="3793492"/>
            <a:ext cx="1968671" cy="2470682"/>
          </a:xfrm>
          <a:prstGeom prst="rect">
            <a:avLst/>
          </a:prstGeom>
        </p:spPr>
      </p:pic>
      <p:pic>
        <p:nvPicPr>
          <p:cNvPr id="11" name="Picture 10">
            <a:extLst>
              <a:ext uri="{FF2B5EF4-FFF2-40B4-BE49-F238E27FC236}">
                <a16:creationId xmlns:a16="http://schemas.microsoft.com/office/drawing/2014/main" id="{D3875DF9-6203-55C6-D683-9C0426E1AE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788" y="833802"/>
            <a:ext cx="2539682" cy="2351333"/>
          </a:xfrm>
          <a:prstGeom prst="rect">
            <a:avLst/>
          </a:prstGeom>
        </p:spPr>
      </p:pic>
      <p:pic>
        <p:nvPicPr>
          <p:cNvPr id="13" name="Picture 12">
            <a:extLst>
              <a:ext uri="{FF2B5EF4-FFF2-40B4-BE49-F238E27FC236}">
                <a16:creationId xmlns:a16="http://schemas.microsoft.com/office/drawing/2014/main" id="{CECF69F2-E45A-89E1-2AAB-83C1C18F00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8700" y="998220"/>
            <a:ext cx="1971883" cy="2199745"/>
          </a:xfrm>
          <a:prstGeom prst="rect">
            <a:avLst/>
          </a:prstGeom>
        </p:spPr>
      </p:pic>
      <p:pic>
        <p:nvPicPr>
          <p:cNvPr id="15" name="Picture 14">
            <a:extLst>
              <a:ext uri="{FF2B5EF4-FFF2-40B4-BE49-F238E27FC236}">
                <a16:creationId xmlns:a16="http://schemas.microsoft.com/office/drawing/2014/main" id="{07A71A8F-3888-F857-9380-3ADE4201CB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774128"/>
            <a:ext cx="4562972" cy="2470682"/>
          </a:xfrm>
          <a:prstGeom prst="rect">
            <a:avLst/>
          </a:prstGeom>
        </p:spPr>
      </p:pic>
      <p:pic>
        <p:nvPicPr>
          <p:cNvPr id="17" name="Picture 16">
            <a:extLst>
              <a:ext uri="{FF2B5EF4-FFF2-40B4-BE49-F238E27FC236}">
                <a16:creationId xmlns:a16="http://schemas.microsoft.com/office/drawing/2014/main" id="{10DF1978-8474-E685-7037-D7F1163D15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84697" y="3429000"/>
            <a:ext cx="3020263" cy="3127890"/>
          </a:xfrm>
          <a:prstGeom prst="rect">
            <a:avLst/>
          </a:prstGeom>
        </p:spPr>
      </p:pic>
    </p:spTree>
    <p:extLst>
      <p:ext uri="{BB962C8B-B14F-4D97-AF65-F5344CB8AC3E}">
        <p14:creationId xmlns:p14="http://schemas.microsoft.com/office/powerpoint/2010/main" val="2019939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01A20-30E0-3932-2A8D-A8C2538B16A3}"/>
              </a:ext>
            </a:extLst>
          </p:cNvPr>
          <p:cNvSpPr>
            <a:spLocks noGrp="1"/>
          </p:cNvSpPr>
          <p:nvPr>
            <p:ph type="title"/>
          </p:nvPr>
        </p:nvSpPr>
        <p:spPr/>
        <p:txBody>
          <a:bodyPr/>
          <a:lstStyle/>
          <a:p>
            <a:r>
              <a:rPr lang="en-IN" sz="1800" b="1" i="0" dirty="0">
                <a:solidFill>
                  <a:srgbClr val="000000"/>
                </a:solidFill>
                <a:effectLst/>
                <a:latin typeface="Times New Roman" panose="02020603050405020304" pitchFamily="18" charset="0"/>
                <a:cs typeface="Times New Roman" panose="02020603050405020304" pitchFamily="18" charset="0"/>
              </a:rPr>
              <a:t>Bi-variate Analysis/Multivariate :</a:t>
            </a:r>
            <a:endParaRPr lang="en-IN"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FCF438-B124-38EF-A628-BF816A169051}"/>
              </a:ext>
            </a:extLst>
          </p:cNvPr>
          <p:cNvSpPr>
            <a:spLocks noGrp="1"/>
          </p:cNvSpPr>
          <p:nvPr>
            <p:ph idx="1"/>
          </p:nvPr>
        </p:nvSpPr>
        <p:spPr/>
        <p:txBody>
          <a:bodyPr>
            <a:normAutofit/>
          </a:bodyPr>
          <a:lstStyle/>
          <a:p>
            <a:pPr marL="0" indent="0">
              <a:buNone/>
            </a:pPr>
            <a:r>
              <a:rPr lang="en-US" sz="1600" b="1" dirty="0">
                <a:latin typeface="Times New Roman" panose="02020603050405020304" pitchFamily="18" charset="0"/>
                <a:cs typeface="Times New Roman" panose="02020603050405020304" pitchFamily="18" charset="0"/>
              </a:rPr>
              <a:t>Correlation Analysis</a:t>
            </a:r>
            <a:r>
              <a:rPr lang="en-US" sz="1600" dirty="0">
                <a:latin typeface="Times New Roman" panose="02020603050405020304" pitchFamily="18" charset="0"/>
                <a:cs typeface="Times New Roman" panose="02020603050405020304" pitchFamily="18" charset="0"/>
              </a:rPr>
              <a:t>: Calculated the correlation between continuous variables (e.g., Original Price and Discount) to explore relationships.</a:t>
            </a:r>
          </a:p>
          <a:p>
            <a:pPr marL="0" indent="0">
              <a:buNone/>
            </a:pPr>
            <a:r>
              <a:rPr lang="en-US" sz="1600" b="1" dirty="0">
                <a:latin typeface="Times New Roman" panose="02020603050405020304" pitchFamily="18" charset="0"/>
                <a:cs typeface="Times New Roman" panose="02020603050405020304" pitchFamily="18" charset="0"/>
              </a:rPr>
              <a:t>Groupby and Pivot Tables</a:t>
            </a:r>
            <a:r>
              <a:rPr lang="en-US" sz="1600" dirty="0">
                <a:latin typeface="Times New Roman" panose="02020603050405020304" pitchFamily="18" charset="0"/>
                <a:cs typeface="Times New Roman" panose="02020603050405020304" pitchFamily="18" charset="0"/>
              </a:rPr>
              <a:t>: Grouped data by categorical variables (like Shades) and compared average prices, discounts, and reviews to understand how categorical factors influence continuous variables.</a:t>
            </a:r>
          </a:p>
          <a:p>
            <a:pPr marL="0" indent="0">
              <a:buNone/>
            </a:pPr>
            <a:r>
              <a:rPr lang="en-US" sz="1600" b="1" dirty="0">
                <a:latin typeface="Times New Roman" panose="02020603050405020304" pitchFamily="18" charset="0"/>
                <a:cs typeface="Times New Roman" panose="02020603050405020304" pitchFamily="18" charset="0"/>
              </a:rPr>
              <a:t>Crosstab Analysis</a:t>
            </a:r>
            <a:r>
              <a:rPr lang="en-US" sz="1600" dirty="0">
                <a:latin typeface="Times New Roman" panose="02020603050405020304" pitchFamily="18" charset="0"/>
                <a:cs typeface="Times New Roman" panose="02020603050405020304" pitchFamily="18" charset="0"/>
              </a:rPr>
              <a:t>: Used crosstabs to analyze relationships between categorical variables (e.g., Shades and Reviews) to detect patterns in product popularity.</a:t>
            </a:r>
          </a:p>
          <a:p>
            <a:pPr marL="0" indent="0">
              <a:buNone/>
            </a:pPr>
            <a:endParaRPr lang="en-IN" sz="1600" dirty="0"/>
          </a:p>
        </p:txBody>
      </p:sp>
      <p:pic>
        <p:nvPicPr>
          <p:cNvPr id="5" name="Picture 4">
            <a:extLst>
              <a:ext uri="{FF2B5EF4-FFF2-40B4-BE49-F238E27FC236}">
                <a16:creationId xmlns:a16="http://schemas.microsoft.com/office/drawing/2014/main" id="{5BA99F35-FCEE-D165-FAC1-10CE0D5861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6330" y="3623627"/>
            <a:ext cx="4701540" cy="2524784"/>
          </a:xfrm>
          <a:prstGeom prst="rect">
            <a:avLst/>
          </a:prstGeom>
        </p:spPr>
      </p:pic>
      <p:pic>
        <p:nvPicPr>
          <p:cNvPr id="7" name="Picture 6">
            <a:extLst>
              <a:ext uri="{FF2B5EF4-FFF2-40B4-BE49-F238E27FC236}">
                <a16:creationId xmlns:a16="http://schemas.microsoft.com/office/drawing/2014/main" id="{10D68E7F-4E2A-E00C-7745-E629310D21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580661"/>
            <a:ext cx="4861560" cy="2610717"/>
          </a:xfrm>
          <a:prstGeom prst="rect">
            <a:avLst/>
          </a:prstGeom>
        </p:spPr>
      </p:pic>
    </p:spTree>
    <p:extLst>
      <p:ext uri="{BB962C8B-B14F-4D97-AF65-F5344CB8AC3E}">
        <p14:creationId xmlns:p14="http://schemas.microsoft.com/office/powerpoint/2010/main" val="464825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B71AF5-E069-789B-428E-18432FA6FF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123" y="1365546"/>
            <a:ext cx="4657595" cy="3793194"/>
          </a:xfrm>
          <a:prstGeom prst="rect">
            <a:avLst/>
          </a:prstGeom>
        </p:spPr>
      </p:pic>
      <p:pic>
        <p:nvPicPr>
          <p:cNvPr id="5" name="Picture 4">
            <a:extLst>
              <a:ext uri="{FF2B5EF4-FFF2-40B4-BE49-F238E27FC236}">
                <a16:creationId xmlns:a16="http://schemas.microsoft.com/office/drawing/2014/main" id="{C9F47843-7298-4C67-8168-C5B67D2A1B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0670" y="1281726"/>
            <a:ext cx="5551786" cy="4151334"/>
          </a:xfrm>
          <a:prstGeom prst="rect">
            <a:avLst/>
          </a:prstGeom>
        </p:spPr>
      </p:pic>
    </p:spTree>
    <p:extLst>
      <p:ext uri="{BB962C8B-B14F-4D97-AF65-F5344CB8AC3E}">
        <p14:creationId xmlns:p14="http://schemas.microsoft.com/office/powerpoint/2010/main" val="2942523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1D75-0B63-635F-BE14-56862BDBBEAD}"/>
              </a:ext>
            </a:extLst>
          </p:cNvPr>
          <p:cNvSpPr>
            <a:spLocks noGrp="1"/>
          </p:cNvSpPr>
          <p:nvPr>
            <p:ph type="title"/>
          </p:nvPr>
        </p:nvSpPr>
        <p:spPr/>
        <p:txBody>
          <a:bodyPr>
            <a:normAutofit/>
          </a:bodyPr>
          <a:lstStyle/>
          <a:p>
            <a:r>
              <a:rPr lang="en-IN" sz="1800" b="1" dirty="0">
                <a:latin typeface="Times New Roman" panose="02020603050405020304" pitchFamily="18" charset="0"/>
                <a:cs typeface="Times New Roman" panose="02020603050405020304" pitchFamily="18" charset="0"/>
              </a:rPr>
              <a:t>Key Business Question:</a:t>
            </a:r>
          </a:p>
        </p:txBody>
      </p:sp>
      <p:sp>
        <p:nvSpPr>
          <p:cNvPr id="3" name="Content Placeholder 2">
            <a:extLst>
              <a:ext uri="{FF2B5EF4-FFF2-40B4-BE49-F238E27FC236}">
                <a16:creationId xmlns:a16="http://schemas.microsoft.com/office/drawing/2014/main" id="{92187F98-451B-6996-83D3-56149116A1EC}"/>
              </a:ext>
            </a:extLst>
          </p:cNvPr>
          <p:cNvSpPr>
            <a:spLocks noGrp="1"/>
          </p:cNvSpPr>
          <p:nvPr>
            <p:ph idx="1"/>
          </p:nvPr>
        </p:nvSpPr>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How can Nykaa optimize its pricing and discount strategies to maximize customer engagement and product sales, while identifying popular product attributes like shades that drive customer preferences?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5634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8AAEB-2B7C-30A9-D5CA-6A274B3A7CE5}"/>
              </a:ext>
            </a:extLst>
          </p:cNvPr>
          <p:cNvSpPr>
            <a:spLocks noGrp="1"/>
          </p:cNvSpPr>
          <p:nvPr>
            <p:ph type="title"/>
          </p:nvPr>
        </p:nvSpPr>
        <p:spPr/>
        <p:txBody>
          <a:bodyPr>
            <a:normAutofit/>
          </a:bodyPr>
          <a:lstStyle/>
          <a:p>
            <a:r>
              <a:rPr lang="en-IN" sz="1800" b="1" dirty="0">
                <a:latin typeface="Times New Roman" panose="02020603050405020304" pitchFamily="18" charset="0"/>
                <a:cs typeface="Times New Roman" panose="02020603050405020304" pitchFamily="18" charset="0"/>
              </a:rPr>
              <a:t>Conclusion (Key Findings Overall)</a:t>
            </a:r>
            <a:r>
              <a:rPr lang="en-IN" sz="1800"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4B035E2E-37E3-AC19-B2BB-21567EE235D1}"/>
              </a:ext>
            </a:extLst>
          </p:cNvPr>
          <p:cNvSpPr>
            <a:spLocks noGrp="1"/>
          </p:cNvSpPr>
          <p:nvPr>
            <p:ph idx="1"/>
          </p:nvPr>
        </p:nvSpPr>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The analysis revealed that most beauty products are priced affordably, but premium products are offered at significant discounts to attract customers.</a:t>
            </a:r>
          </a:p>
          <a:p>
            <a:pPr marL="0" indent="0">
              <a:buNone/>
            </a:pPr>
            <a:r>
              <a:rPr lang="en-US" sz="1600" dirty="0">
                <a:latin typeface="Times New Roman" panose="02020603050405020304" pitchFamily="18" charset="0"/>
                <a:cs typeface="Times New Roman" panose="02020603050405020304" pitchFamily="18" charset="0"/>
              </a:rPr>
              <a:t>Certain shades are more popular, driving higher customer reviews and engagement.</a:t>
            </a:r>
          </a:p>
          <a:p>
            <a:pPr marL="0" indent="0">
              <a:buNone/>
            </a:pPr>
            <a:r>
              <a:rPr lang="en-US" sz="1600" dirty="0">
                <a:latin typeface="Times New Roman" panose="02020603050405020304" pitchFamily="18" charset="0"/>
                <a:cs typeface="Times New Roman" panose="02020603050405020304" pitchFamily="18" charset="0"/>
              </a:rPr>
              <a:t>While discounts are commonly offered, their impact on reviews is not as significant, suggesting that other factors like brand or product quality may drive customer satisfaction</a:t>
            </a:r>
            <a:r>
              <a:rPr lang="en-US" sz="1100" dirty="0">
                <a:latin typeface="Times New Roman" panose="02020603050405020304" pitchFamily="18" charset="0"/>
                <a:cs typeface="Times New Roman" panose="02020603050405020304" pitchFamily="18" charset="0"/>
              </a:rPr>
              <a: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783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DA45BA73-EA52-A750-716F-4A989AFFE9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1830" y="1371600"/>
            <a:ext cx="51435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9741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6241D-5BA5-907D-2E9B-EF2C4731675E}"/>
              </a:ext>
            </a:extLst>
          </p:cNvPr>
          <p:cNvSpPr>
            <a:spLocks noGrp="1"/>
          </p:cNvSpPr>
          <p:nvPr>
            <p:ph type="title"/>
          </p:nvPr>
        </p:nvSpPr>
        <p:spPr>
          <a:xfrm>
            <a:off x="1101811" y="307460"/>
            <a:ext cx="10515600" cy="1325563"/>
          </a:xfrm>
        </p:spPr>
        <p:txBody>
          <a:bodyPr>
            <a:normAutofit/>
          </a:bodyPr>
          <a:lstStyle/>
          <a:p>
            <a:r>
              <a:rPr lang="en-US" sz="1800" b="1" dirty="0">
                <a:latin typeface="Times New Roman" panose="02020603050405020304" pitchFamily="18" charset="0"/>
                <a:cs typeface="Times New Roman" panose="02020603050405020304" pitchFamily="18" charset="0"/>
              </a:rPr>
              <a:t>Experience/Challenges Working on Web Scraping – Data Analysis Project</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B8AC2D-EF42-DB56-8C86-B6E740FF2B9B}"/>
              </a:ext>
            </a:extLst>
          </p:cNvPr>
          <p:cNvSpPr>
            <a:spLocks noGrp="1"/>
          </p:cNvSpPr>
          <p:nvPr>
            <p:ph idx="1"/>
          </p:nvPr>
        </p:nvSpPr>
        <p:spPr/>
        <p:txBody>
          <a:bodyPr>
            <a:normAutofit/>
          </a:bodyPr>
          <a:lstStyle/>
          <a:p>
            <a:pPr marL="0" indent="0">
              <a:buNone/>
            </a:pPr>
            <a:r>
              <a:rPr lang="en-US" sz="1600" dirty="0">
                <a:latin typeface="Times New Roman" panose="02020603050405020304" pitchFamily="18" charset="0"/>
                <a:cs typeface="Times New Roman" panose="02020603050405020304" pitchFamily="18" charset="0"/>
              </a:rPr>
              <a:t>The main challenge was handling dynamic web elements and ensuring that the scraping process was efficient. Cleaning and structuring the scraped data for analysis required extra effort due to inconsistencies in the data format across different products. However, the project provided valuable insights into working with e-commerce data for decision-making.</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4700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727</Words>
  <Application>Microsoft Office PowerPoint</Application>
  <PresentationFormat>Widescreen</PresentationFormat>
  <Paragraphs>43</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Times New Roman</vt:lpstr>
      <vt:lpstr>Office Theme</vt:lpstr>
      <vt:lpstr>Nykaa Beauty Products Analysis</vt:lpstr>
      <vt:lpstr>About Me</vt:lpstr>
      <vt:lpstr>Business Problem and Use case domain understanding</vt:lpstr>
      <vt:lpstr>Objective of the Project</vt:lpstr>
      <vt:lpstr>Web Scraping – Details (Websites, Processor you followed)</vt:lpstr>
      <vt:lpstr>Summary of the Data</vt:lpstr>
      <vt:lpstr>Exploratory Data Analysis:</vt:lpstr>
      <vt:lpstr>Data Manipulation Steps:</vt:lpstr>
      <vt:lpstr>Univariate Analysis Steps:</vt:lpstr>
      <vt:lpstr>PowerPoint Presentation</vt:lpstr>
      <vt:lpstr>Bi-variate Analysis/Multivariate :</vt:lpstr>
      <vt:lpstr>PowerPoint Presentation</vt:lpstr>
      <vt:lpstr>Key Business Question:</vt:lpstr>
      <vt:lpstr>Conclusion (Key Findings Overall):</vt:lpstr>
      <vt:lpstr>PowerPoint Presentation</vt:lpstr>
      <vt:lpstr>Experience/Challenges Working on Web Scraping – Data Analysis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Harinath reddy D</dc:creator>
  <cp:lastModifiedBy>Harinath reddy D</cp:lastModifiedBy>
  <cp:revision>4</cp:revision>
  <dcterms:created xsi:type="dcterms:W3CDTF">2025-01-22T16:31:52Z</dcterms:created>
  <dcterms:modified xsi:type="dcterms:W3CDTF">2025-01-23T10:37:20Z</dcterms:modified>
</cp:coreProperties>
</file>